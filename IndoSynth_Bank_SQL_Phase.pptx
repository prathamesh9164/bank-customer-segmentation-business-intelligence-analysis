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7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defRPr sz="6000" b="0">
                <a:solidFill>
                  <a:srgbClr val="2C2C2C"/>
                </a:solidFill>
                <a:latin typeface="Calibri"/>
              </a:defRPr>
            </a:pPr>
            <a:r>
              <a:t>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2C2C2C"/>
                </a:solidFill>
                <a:latin typeface="Calibri"/>
              </a:defRPr>
            </a:pPr>
            <a:r>
              <a:t>IndoSynth Gramin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C77D6E"/>
                </a:solidFill>
                <a:latin typeface="Calibri"/>
              </a:defRPr>
            </a:pPr>
            <a:r>
              <a:t>Phase 1  —  MySQL Database Design &amp;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840480"/>
            <a:ext cx="3931920" cy="38100"/>
          </a:xfrm>
          <a:prstGeom prst="rect">
            <a:avLst/>
          </a:prstGeom>
          <a:solidFill>
            <a:srgbClr val="C7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55555"/>
                </a:solidFill>
                <a:latin typeface="Calibri"/>
              </a:defRPr>
            </a:pPr>
            <a:r>
              <a:t>End-to-end relational database design, bulk data ingestion,</a:t>
            </a:r>
            <a:br/>
            <a:r>
              <a:t>and 25+ analytical SQL queries across ~3 Million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555555"/>
                </a:solidFill>
                <a:latin typeface="Calibri"/>
              </a:defRPr>
            </a:pPr>
            <a:r>
              <a:t>Data Analytics &amp; Business Intelligence  •  Major Project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529E97"/>
                </a:solidFill>
                <a:latin typeface="Calibri"/>
              </a:defRPr>
            </a:pPr>
            <a:r>
              <a:t>MySQL 8.0  •  9 Tables  •  ~3M Records  •  25+ Queries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IndoSynth Gramin Bank  •  SQL Phase  •  Major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C2C2C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C7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1554480"/>
            <a:ext cx="502920" cy="365760"/>
          </a:xfrm>
          <a:prstGeom prst="roundRect">
            <a:avLst>
              <a:gd name="adj" fmla="val 5000"/>
            </a:avLst>
          </a:prstGeom>
          <a:solidFill>
            <a:srgbClr val="C7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5727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727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r>
              <a:t>Project Overview &amp; Business Objectives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084832"/>
            <a:ext cx="502920" cy="365760"/>
          </a:xfrm>
          <a:prstGeom prst="roundRect">
            <a:avLst>
              <a:gd name="adj" fmla="val 5000"/>
            </a:avLst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03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r>
              <a:t>Dataset Overview — 9 Core Banking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615184"/>
            <a:ext cx="502920" cy="365760"/>
          </a:xfrm>
          <a:prstGeom prst="roundRect">
            <a:avLst>
              <a:gd name="adj" fmla="val 5000"/>
            </a:avLst>
          </a:prstGeom>
          <a:solidFill>
            <a:srgbClr val="52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63347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334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r>
              <a:t>ER Schema Design &amp; Normalization (3NF)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145535"/>
            <a:ext cx="502920" cy="365760"/>
          </a:xfrm>
          <a:prstGeom prst="roundRect">
            <a:avLst>
              <a:gd name="adj" fmla="val 5000"/>
            </a:avLst>
          </a:prstGeom>
          <a:solidFill>
            <a:srgbClr val="5E8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163823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163823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r>
              <a:t>Table Creation — DDL with Constraints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675888"/>
            <a:ext cx="502920" cy="365760"/>
          </a:xfrm>
          <a:prstGeom prst="roundRect">
            <a:avLst>
              <a:gd name="adj" fmla="val 5000"/>
            </a:avLst>
          </a:prstGeom>
          <a:solidFill>
            <a:srgbClr val="8B6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69417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6941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r>
              <a:t>Bulk Data Loading — LOAD DATA LOCAL INFILE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206240"/>
            <a:ext cx="502920" cy="365760"/>
          </a:xfrm>
          <a:prstGeom prst="roundRect">
            <a:avLst>
              <a:gd name="adj" fmla="val 5000"/>
            </a:avLst>
          </a:prstGeom>
          <a:solidFill>
            <a:srgbClr val="5E9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2245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2245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r>
              <a:t>Data Verification &amp; Row Counts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736591"/>
            <a:ext cx="502920" cy="365760"/>
          </a:xfrm>
          <a:prstGeom prst="roundRect">
            <a:avLst>
              <a:gd name="adj" fmla="val 5000"/>
            </a:avLst>
          </a:prstGeom>
          <a:solidFill>
            <a:srgbClr val="C7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4754879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75487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r>
              <a:t>Indexing Strategy for Performance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5266943"/>
            <a:ext cx="502920" cy="365760"/>
          </a:xfrm>
          <a:prstGeom prst="roundRect">
            <a:avLst>
              <a:gd name="adj" fmla="val 5000"/>
            </a:avLst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5285231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285231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r>
              <a:t>10 Analytical Queries with Key Insights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797296"/>
            <a:ext cx="502920" cy="365760"/>
          </a:xfrm>
          <a:prstGeom prst="roundRect">
            <a:avLst>
              <a:gd name="adj" fmla="val 5000"/>
            </a:avLst>
          </a:prstGeom>
          <a:solidFill>
            <a:srgbClr val="52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" y="58155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1558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C2C2C"/>
                </a:solidFill>
                <a:latin typeface="Calibri"/>
              </a:defRPr>
            </a:pPr>
            <a:r>
              <a:t>Key Takeaways &amp; Summary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IndoSynth Gramin Bank  •  SQL Phase  •  Major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C7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C2C2C"/>
                </a:solidFill>
                <a:latin typeface="Calibri"/>
              </a:defRPr>
            </a:pPr>
            <a:r>
              <a:t>Project Overview &amp; Business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3657600" cy="38100"/>
          </a:xfrm>
          <a:prstGeom prst="rect">
            <a:avLst/>
          </a:prstGeom>
          <a:solidFill>
            <a:srgbClr val="C7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C77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C77D6E"/>
                </a:solidFill>
                <a:latin typeface="Calibri"/>
              </a:defRPr>
            </a:pPr>
            <a:r>
              <a:t>🏦  Domain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defRPr sz="1400" b="0">
                <a:solidFill>
                  <a:srgbClr val="555555"/>
                </a:solidFill>
                <a:latin typeface="Calibri"/>
              </a:defRPr>
            </a:pPr>
            <a:r>
              <a:t>Banking &amp; Financial Services (Rural / Gramin Banking)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C77D6E"/>
                </a:solidFill>
                <a:latin typeface="Calibri"/>
              </a:defRPr>
            </a:pPr>
            <a:r>
              <a:t>📋  Business Problem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555555"/>
                </a:solidFill>
                <a:latin typeface="Calibri"/>
              </a:defRPr>
            </a:pPr>
            <a:r>
              <a:t>Analyze the operations of IndoSynth Gramin Bank across India to uncover insights on: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•  Customer demographics &amp; segmentation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•  Loan portfolio performance &amp; approval rates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•  Payment behavior &amp; default identification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•  Branch efficiency &amp; profitability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•  Transaction patterns (UPI vs Traditional)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•  Credit risk modeling &amp; NPA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529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800" b="1">
                <a:solidFill>
                  <a:srgbClr val="529E97"/>
                </a:solidFill>
                <a:latin typeface="Calibri"/>
              </a:defRPr>
            </a:pPr>
            <a:r>
              <a:t>🎯  Key Objectives (SQL Phase)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1.  Design a normalized relational database (3NF)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2.  Define DDL with Primary &amp; Foreign Keys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3.  Bulk load ~3 Million records from 9 CSVs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4.  Create strategic indexes for performance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5.  Write 25+ analytical queries (Basic → Advanced)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529E97"/>
                </a:solidFill>
                <a:latin typeface="Calibri"/>
              </a:defRPr>
            </a:pPr>
            <a:r>
              <a:t>🛠️  Technology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•  MySQL Server 8.0 + MySQL Workbench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•  SQL (DDL, DML, DQL, Window Functions)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•  LOAD DATA LOCAL INFILE for bulk ingestion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IndoSynth Gramin Bank  •  SQL Phase  •  Major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C2C2C"/>
                </a:solidFill>
                <a:latin typeface="Calibri"/>
              </a:defRPr>
            </a:pPr>
            <a:r>
              <a:t>Dataset Overview — 9 Core Banking 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4114800" cy="38100"/>
          </a:xfrm>
          <a:prstGeom prst="rect">
            <a:avLst/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698480" cy="384048"/>
          </a:xfrm>
          <a:prstGeom prst="roundRect">
            <a:avLst>
              <a:gd name="adj" fmla="val 5000"/>
            </a:avLst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Table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37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Grain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737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Key Attributes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48840"/>
            <a:ext cx="10698480" cy="384048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9E97"/>
                </a:solidFill>
                <a:latin typeface="Consolas"/>
              </a:defRPr>
            </a:pPr>
            <a:r>
              <a:t>regions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194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194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1 row per region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194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region_id, zone, primary_state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569464"/>
            <a:ext cx="10698480" cy="384048"/>
          </a:xfrm>
          <a:prstGeom prst="roundRect">
            <a:avLst>
              <a:gd name="adj" fmla="val 5000"/>
            </a:avLst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2615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9E97"/>
                </a:solidFill>
                <a:latin typeface="Consolas"/>
              </a:defRPr>
            </a:pPr>
            <a:r>
              <a:t>loan_types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6151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6151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1 row per loan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6151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loan_type_id, interest_rate, collateral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990088"/>
            <a:ext cx="10698480" cy="384048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0358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9E97"/>
                </a:solidFill>
                <a:latin typeface="Consolas"/>
              </a:defRPr>
            </a:pPr>
            <a:r>
              <a:t>branches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0358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250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0358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1 row per branch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0358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branch_id, region_id, city, type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410712"/>
            <a:ext cx="10698480" cy="384048"/>
          </a:xfrm>
          <a:prstGeom prst="roundRect">
            <a:avLst>
              <a:gd name="adj" fmla="val 5000"/>
            </a:avLst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34564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9E97"/>
                </a:solidFill>
                <a:latin typeface="Consolas"/>
              </a:defRPr>
            </a:pPr>
            <a:r>
              <a:t>employees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4564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~2,000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4564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1 row per employee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4564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employee_id, branch_id, designation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831336"/>
            <a:ext cx="10698480" cy="384048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38770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9E97"/>
                </a:solidFill>
                <a:latin typeface="Consolas"/>
              </a:defRPr>
            </a:pPr>
            <a:r>
              <a:t>customers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38770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100,000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38770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1 row per account holder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87705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customer_id, income, segment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251960"/>
            <a:ext cx="10698480" cy="384048"/>
          </a:xfrm>
          <a:prstGeom prst="roundRect">
            <a:avLst>
              <a:gd name="adj" fmla="val 5000"/>
            </a:avLst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4297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9E97"/>
                </a:solidFill>
                <a:latin typeface="Consolas"/>
              </a:defRPr>
            </a:pPr>
            <a:r>
              <a:t>credit_history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4297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100,000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1 row per credit 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297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credit_score, rating, utilization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672584"/>
            <a:ext cx="10698480" cy="384048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" y="47183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9E97"/>
                </a:solidFill>
                <a:latin typeface="Consolas"/>
              </a:defRPr>
            </a:pPr>
            <a:r>
              <a:t>loan_applications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7183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300,000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47183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1 row per application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471830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application_id, amount, status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093208"/>
            <a:ext cx="10698480" cy="384048"/>
          </a:xfrm>
          <a:prstGeom prst="roundRect">
            <a:avLst>
              <a:gd name="adj" fmla="val 5000"/>
            </a:avLst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2960" y="51389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9E97"/>
                </a:solidFill>
                <a:latin typeface="Consolas"/>
              </a:defRPr>
            </a:pPr>
            <a:r>
              <a:t>loan_payments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51389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900,000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51389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1 row per EMI payment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51389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payment_id, status, days_late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5513832"/>
            <a:ext cx="10698480" cy="384048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2960" y="55595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9E97"/>
                </a:solidFill>
                <a:latin typeface="Consolas"/>
              </a:defRPr>
            </a:pPr>
            <a:r>
              <a:t>transactions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26080" y="55595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1,500,000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0" y="55595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1 row per transaction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0" y="55595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transaction_id, amount, mode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" y="6071616"/>
            <a:ext cx="10698480" cy="384048"/>
          </a:xfrm>
          <a:prstGeom prst="roundRect">
            <a:avLst>
              <a:gd name="adj" fmla="val 5000"/>
            </a:avLst>
          </a:prstGeom>
          <a:solidFill>
            <a:srgbClr val="C7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2960" y="61173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TOTAL:  ~3,002,300 Records  •  9 Tables  •  ~400 MB Raw Data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IndoSynth Gramin Bank  •  SQL Phase  •  Major Project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52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C2C2C"/>
                </a:solidFill>
                <a:latin typeface="Calibri"/>
              </a:defRPr>
            </a:pPr>
            <a:r>
              <a:t>Entity-Relationship Diagram (3NF)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3657600" cy="38100"/>
          </a:xfrm>
          <a:prstGeom prst="rect">
            <a:avLst/>
          </a:prstGeom>
          <a:solidFill>
            <a:srgbClr val="52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 2026-07-08 1721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645920"/>
            <a:ext cx="3657600" cy="475488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529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7830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600" b="1">
                <a:solidFill>
                  <a:srgbClr val="529E97"/>
                </a:solidFill>
                <a:latin typeface="Calibri"/>
              </a:defRPr>
            </a:pPr>
            <a:r>
              <a:t>Key Relationships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regions  →  branches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  One region has many branches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branches  →  employees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  Employees work at a branch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customers  →  credit_history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  1:1 credit profile per customer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customers  →  loan_applications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  Customer applies for many loans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loan_applications  →  loan_payments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  Each loan has multiple EMI payments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customers  →  transactions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  Customer makes many transactions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C99E58"/>
                </a:solidFill>
                <a:latin typeface="Calibri"/>
              </a:defRPr>
            </a:pPr>
            <a:r>
              <a:t>Normalization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2C2C2C"/>
                </a:solidFill>
                <a:latin typeface="Calibri"/>
              </a:defRPr>
            </a:pPr>
            <a:r>
              <a:t>•  Third Normal Form (3NF)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2C2C2C"/>
                </a:solidFill>
                <a:latin typeface="Calibri"/>
              </a:defRPr>
            </a:pPr>
            <a:r>
              <a:t>•  No transitive dependencies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2C2C2C"/>
                </a:solidFill>
                <a:latin typeface="Calibri"/>
              </a:defRPr>
            </a:pPr>
            <a:r>
              <a:t>•  Referential integrity via FKs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IndoSynth Gramin Bank  •  SQL Phase  •  Major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5E8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DDL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C2C2C"/>
                </a:solidFill>
                <a:latin typeface="Calibri"/>
              </a:defRPr>
            </a:pPr>
            <a:r>
              <a:t>Table Creation — DDL with Constraints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3657600" cy="38100"/>
          </a:xfrm>
          <a:prstGeom prst="rect">
            <a:avLst/>
          </a:prstGeom>
          <a:solidFill>
            <a:srgbClr val="5E8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9E58"/>
                </a:solidFill>
                <a:latin typeface="Calibri"/>
              </a:defRPr>
            </a:pPr>
            <a:r>
              <a:t>Sample: customers 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029200" cy="3657600"/>
          </a:xfrm>
          <a:prstGeom prst="roundRect">
            <a:avLst>
              <a:gd name="adj" fmla="val 5000"/>
            </a:avLst>
          </a:prstGeom>
          <a:solidFill>
            <a:srgbClr val="E8E5DE"/>
          </a:solidFill>
          <a:ln w="12700">
            <a:solidFill>
              <a:srgbClr val="529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CREATE TABLE customers (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    customer_id    INT PRIMARY KEY,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    full_name      VARCHAR(100),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    gender         VARCHAR(10),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    date_of_birth  DATE,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    age            INT,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    annual_income  DECIMAL(12,2),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    region_id      INT,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    branch_id      INT,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    customer_segment VARCHAR(20),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    -- ... 25+ columns total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    FOREIGN KEY (region_id)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        REFERENCES regions(region_id),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    FOREIGN KEY (branch_id)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        REFERENCES branches(branch_id)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C77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691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77D6E"/>
                </a:solidFill>
                <a:latin typeface="Calibri"/>
              </a:defRPr>
            </a:pPr>
            <a:r>
              <a:t>🔑  Primary Keys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385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Every table has a single-column</a:t>
            </a:r>
            <a:br/>
            <a:r>
              <a:t>INT PRIMARY KEY for fast lookups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42316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529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2468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9E97"/>
                </a:solidFill>
                <a:latin typeface="Calibri"/>
              </a:defRPr>
            </a:pPr>
            <a:r>
              <a:t>🔗  Foreign Keys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7157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12 FK constraints enforce referential</a:t>
            </a:r>
            <a:br/>
            <a:r>
              <a:t>integrity across all 9 tables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0040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C9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3246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99E58"/>
                </a:solidFill>
                <a:latin typeface="Calibri"/>
              </a:defRPr>
            </a:pPr>
            <a:r>
              <a:t>🚫  NOT NULL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4930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Critical columns (IDs, names, dates)</a:t>
            </a:r>
            <a:br/>
            <a:r>
              <a:t>are marked NOT NULL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7764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5E8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4023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E89B4"/>
                </a:solidFill>
                <a:latin typeface="Calibri"/>
              </a:defRPr>
            </a:pPr>
            <a:r>
              <a:t>📝  UNIQUE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2702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IFSC codes, employee codes, PAN —</a:t>
            </a:r>
            <a:br/>
            <a:r>
              <a:t>ensure no duplicate identifiers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75488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8B6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4800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B6BAF"/>
                </a:solidFill>
                <a:latin typeface="Calibri"/>
              </a:defRPr>
            </a:pPr>
            <a:r>
              <a:t>⚙️  Defaults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04748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is_active DEFAULT TRUE, days_late</a:t>
            </a:r>
            <a:br/>
            <a:r>
              <a:t>DEFAULT 0 for clean defaults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53212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5E9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5577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E9E65"/>
                </a:solidFill>
                <a:latin typeface="Calibri"/>
              </a:defRPr>
            </a:pPr>
            <a:r>
              <a:t>📐  Data 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8247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DECIMAL(15,2) for money, VARCHAR</a:t>
            </a:r>
            <a:br/>
            <a:r>
              <a:t>for text, DATE for temporal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85216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916168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99E58"/>
                </a:solidFill>
                <a:latin typeface="Calibri"/>
              </a:defRPr>
            </a:pPr>
            <a:r>
              <a:t>⚠️  Creation Order:  regions → loan_types → branches → employees → customers → credit_history → loan_applications → loan_payments → transactions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IndoSynth Gramin Bank  •  SQL Phase  •  Major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8B6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C2C2C"/>
                </a:solidFill>
                <a:latin typeface="Calibri"/>
              </a:defRPr>
            </a:pPr>
            <a:r>
              <a:t>Bulk Data Loading — LOAD DATA LOCAL INFILE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4572000" cy="38100"/>
          </a:xfrm>
          <a:prstGeom prst="rect">
            <a:avLst/>
          </a:prstGeom>
          <a:solidFill>
            <a:srgbClr val="8B6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9E58"/>
                </a:solidFill>
                <a:latin typeface="Calibri"/>
              </a:defRPr>
            </a:pPr>
            <a:r>
              <a:t>Loading 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E8E5DE"/>
          </a:solidFill>
          <a:ln w="12700">
            <a:solidFill>
              <a:srgbClr val="529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-- Enable local file loading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SET GLOBAL local_infile = 1;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-- Bulk load with NULL handling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LOAD DATA LOCAL INFILE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  'B:/Major Project/data/customers.csv'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INTO TABLE customers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FIELDS TERMINATED BY ','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ENCLOSED BY '"'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LINES TERMINATED BY '\n'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IGNORE 1 ROWS;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99E58"/>
                </a:solidFill>
                <a:latin typeface="Calibri"/>
              </a:defRPr>
            </a:pPr>
            <a:r>
              <a:t>Advanced: NULL Handling with SET Clause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5029200" cy="1280160"/>
          </a:xfrm>
          <a:prstGeom prst="roundRect">
            <a:avLst>
              <a:gd name="adj" fmla="val 5000"/>
            </a:avLst>
          </a:prstGeom>
          <a:solidFill>
            <a:srgbClr val="E8E5DE"/>
          </a:solidFill>
          <a:ln w="12700">
            <a:solidFill>
              <a:srgbClr val="529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LOAD DATA LOCAL INFILE '...loan_applications.csv'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INTO TABLE loan_applications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...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IGNORE 1 ROWS (@col1, @col2, ...)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SET col1 = NULLIF(@col1, ''),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col2 = NULLIF(@col2, '');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8B6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800" b="1">
                <a:solidFill>
                  <a:srgbClr val="8B6BAF"/>
                </a:solidFill>
                <a:latin typeface="Calibri"/>
              </a:defRPr>
            </a:pPr>
            <a:r>
              <a:t>Loading Process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C99E58"/>
                </a:solidFill>
                <a:latin typeface="Calibri"/>
              </a:defRPr>
            </a:pPr>
            <a:r>
              <a:t>Step 1 — Enable Local Infile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SET GLOBAL local_infile = 1 on MySQL server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C99E58"/>
                </a:solidFill>
                <a:latin typeface="Calibri"/>
              </a:defRPr>
            </a:pPr>
            <a:r>
              <a:t>Step 2 — Load Parent Tables First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regions (40) → loan_types (10) → branches (250)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C99E58"/>
                </a:solidFill>
                <a:latin typeface="Calibri"/>
              </a:defRPr>
            </a:pPr>
            <a:r>
              <a:t>Step 3 — Load Core Tables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employees (~2K) → customers (100K) → credit_history (100K)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C99E58"/>
                </a:solidFill>
                <a:latin typeface="Calibri"/>
              </a:defRPr>
            </a:pPr>
            <a:r>
              <a:t>Step 4 — Load High-Volume Tables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loan_applications (300K) → loan_payments (900K) → transactions (1.5M)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529E97"/>
                </a:solidFill>
                <a:latin typeface="Calibri"/>
              </a:defRPr>
            </a:pPr>
            <a:r>
              <a:t>Key Technique: NULLIF()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Empty strings from CSV are converted to proper SQL NULLs using SET column = NULLIF(@var, '')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88888"/>
                </a:solidFill>
                <a:latin typeface="Calibri"/>
              </a:defRPr>
            </a:pPr>
            <a:r>
              <a:t>This ensures data integrity for optional columns like rejection_reason, disbursement_date, etc.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IndoSynth Gramin Bank  •  SQL Phase  •  Major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5E9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C2C2C"/>
                </a:solidFill>
                <a:latin typeface="Calibri"/>
              </a:defRPr>
            </a:pPr>
            <a:r>
              <a:t>Data Verification — Row Count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3657600" cy="38100"/>
          </a:xfrm>
          <a:prstGeom prst="rect">
            <a:avLst/>
          </a:prstGeom>
          <a:solidFill>
            <a:srgbClr val="5E9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943600" cy="2286000"/>
          </a:xfrm>
          <a:prstGeom prst="roundRect">
            <a:avLst>
              <a:gd name="adj" fmla="val 5000"/>
            </a:avLst>
          </a:prstGeom>
          <a:solidFill>
            <a:srgbClr val="E8E5DE"/>
          </a:solidFill>
          <a:ln w="12700">
            <a:solidFill>
              <a:srgbClr val="529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-- Unified row count verification across all 9 tables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SELECT 'regions' AS table_name, COUNT(*) AS row_count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  FROM regions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UNION ALL SELECT 'loan_types', COUNT(*) FROM loan_types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UNION ALL SELECT 'branches', COUNT(*) FROM branches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UNION ALL SELECT 'employees', COUNT(*) FROM employees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UNION ALL SELECT 'customers', COUNT(*) FROM customers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UNION ALL SELECT 'credit_history', COUNT(*) FROM credit_history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UNION ALL SELECT 'loan_applications', COUNT(*) FROM loan_applications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UNION ALL SELECT 'loan_payments', COUNT(*) FROM loan_payments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>
                <a:solidFill>
                  <a:srgbClr val="333340"/>
                </a:solidFill>
                <a:latin typeface="Consolas"/>
              </a:defRPr>
            </a:pPr>
            <a:r>
              <a:t>UNION ALL SELECT 'transactions', COUNT(*) FROM transactions;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E9E65"/>
                </a:solidFill>
                <a:latin typeface="Calibri"/>
              </a:defRPr>
            </a:pPr>
            <a:r>
              <a:t>Expected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148840"/>
            <a:ext cx="4114800" cy="347472"/>
          </a:xfrm>
          <a:prstGeom prst="roundRect">
            <a:avLst>
              <a:gd name="adj" fmla="val 5000"/>
            </a:avLst>
          </a:prstGeom>
          <a:solidFill>
            <a:srgbClr val="5E9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69480" y="21854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1854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Row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218541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542032"/>
            <a:ext cx="4114800" cy="338328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69480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9E97"/>
                </a:solidFill>
                <a:latin typeface="Consolas"/>
              </a:defRPr>
            </a:pPr>
            <a:r>
              <a:t>regions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5786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C2C2C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25786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C2C2C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907792"/>
            <a:ext cx="4114800" cy="338328"/>
          </a:xfrm>
          <a:prstGeom prst="roundRect">
            <a:avLst>
              <a:gd name="adj" fmla="val 5000"/>
            </a:avLst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69480" y="29443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9E97"/>
                </a:solidFill>
                <a:latin typeface="Consolas"/>
              </a:defRPr>
            </a:pPr>
            <a:r>
              <a:t>loan_types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9443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C2C2C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29443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C2C2C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3273552"/>
            <a:ext cx="4114800" cy="338328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69480" y="33101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9E97"/>
                </a:solidFill>
                <a:latin typeface="Consolas"/>
              </a:defRPr>
            </a:pPr>
            <a:r>
              <a:t>branches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3101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C2C2C"/>
                </a:solidFill>
                <a:latin typeface="Calibri"/>
              </a:defRPr>
            </a:pPr>
            <a:r>
              <a:t>250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33101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C2C2C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3639312"/>
            <a:ext cx="4114800" cy="338328"/>
          </a:xfrm>
          <a:prstGeom prst="roundRect">
            <a:avLst>
              <a:gd name="adj" fmla="val 5000"/>
            </a:avLst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69480" y="3675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9E97"/>
                </a:solidFill>
                <a:latin typeface="Consolas"/>
              </a:defRPr>
            </a:pPr>
            <a:r>
              <a:t>employees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6758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C2C2C"/>
                </a:solidFill>
                <a:latin typeface="Calibri"/>
              </a:defRPr>
            </a:pPr>
            <a:r>
              <a:t>~2,000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36758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C2C2C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0" y="4005072"/>
            <a:ext cx="4114800" cy="338328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69480" y="40416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9E97"/>
                </a:solidFill>
                <a:latin typeface="Consolas"/>
              </a:defRPr>
            </a:pPr>
            <a:r>
              <a:t>customers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041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C2C2C"/>
                </a:solidFill>
                <a:latin typeface="Calibri"/>
              </a:defRPr>
            </a:pPr>
            <a:r>
              <a:t>100,000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40416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C2C2C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0" y="4370832"/>
            <a:ext cx="4114800" cy="338328"/>
          </a:xfrm>
          <a:prstGeom prst="roundRect">
            <a:avLst>
              <a:gd name="adj" fmla="val 5000"/>
            </a:avLst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69480" y="44074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9E97"/>
                </a:solidFill>
                <a:latin typeface="Consolas"/>
              </a:defRPr>
            </a:pPr>
            <a:r>
              <a:t>credit_history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44074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C2C2C"/>
                </a:solidFill>
                <a:latin typeface="Calibri"/>
              </a:defRPr>
            </a:pPr>
            <a:r>
              <a:t>100,000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44074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C2C2C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0" y="4736592"/>
            <a:ext cx="4114800" cy="338328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69480" y="4773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9E97"/>
                </a:solidFill>
                <a:latin typeface="Consolas"/>
              </a:defRPr>
            </a:pPr>
            <a:r>
              <a:t>loan_applications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4773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C2C2C"/>
                </a:solidFill>
                <a:latin typeface="Calibri"/>
              </a:defRPr>
            </a:pPr>
            <a:r>
              <a:t>300,000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47731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C2C2C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0" y="5102352"/>
            <a:ext cx="4114800" cy="338328"/>
          </a:xfrm>
          <a:prstGeom prst="roundRect">
            <a:avLst>
              <a:gd name="adj" fmla="val 5000"/>
            </a:avLst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69480" y="51389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9E97"/>
                </a:solidFill>
                <a:latin typeface="Consolas"/>
              </a:defRPr>
            </a:pPr>
            <a:r>
              <a:t>loan_payments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5138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C2C2C"/>
                </a:solidFill>
                <a:latin typeface="Calibri"/>
              </a:defRPr>
            </a:pPr>
            <a:r>
              <a:t>900,000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51389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C2C2C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32320" y="5468112"/>
            <a:ext cx="4114800" cy="338328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269480" y="55046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9E97"/>
                </a:solidFill>
                <a:latin typeface="Consolas"/>
              </a:defRPr>
            </a:pPr>
            <a:r>
              <a:t>transactions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55046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C2C2C"/>
                </a:solidFill>
                <a:latin typeface="Calibri"/>
              </a:defRPr>
            </a:pPr>
            <a:r>
              <a:t>1,500,000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55046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C2C2C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4297680"/>
            <a:ext cx="5943600" cy="201168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5E9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05840" y="44348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5E9E65"/>
                </a:solidFill>
                <a:latin typeface="Calibri"/>
              </a:defRPr>
            </a:pPr>
            <a:r>
              <a:t>Why UNION ALL?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•  UNION ALL (not UNION) preserves all rows — no dedup needed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•  Single query validates entire database in one execution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•  Each sub-SELECT runs an independent COUNT(*) per table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•  Faster than running 9 separate COUNT queries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IndoSynth Gramin Bank  •  SQL Phase  •  Major Project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C7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INDEXING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C2C2C"/>
                </a:solidFill>
                <a:latin typeface="Calibri"/>
              </a:defRPr>
            </a:pPr>
            <a:r>
              <a:t>Indexing Strategy for Query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4114800" cy="38100"/>
          </a:xfrm>
          <a:prstGeom prst="rect">
            <a:avLst/>
          </a:prstGeom>
          <a:solidFill>
            <a:srgbClr val="C7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E8E5DE"/>
          </a:solidFill>
          <a:ln w="12700">
            <a:solidFill>
              <a:srgbClr val="529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-- 22 Strategic Indexes Created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-- Customers (4 indexes)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CREATE INDEX idx_customers_region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ON customers(region_id);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CREATE INDEX idx_customers_branch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ON customers(branch_id);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CREATE INDEX idx_customers_segment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ON customers(customer_segment);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CREATE INDEX idx_customers_state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ON customers(state);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-- Credit History (3 indexes)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CREATE INDEX idx_credit_customer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ON credit_history(customer_id);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CREATE INDEX idx_credit_score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ON credit_history(credit_score);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endParaRPr/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-- Loan Applications (5 indexes)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CREATE INDEX idx_loan_app_customer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ON loan_applications(customer_id);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CREATE INDEX idx_loan_app_status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ON loan_applications(status);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CREATE INDEX idx_loan_app_date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ON loan_applications(application_date);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C77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800" b="1">
                <a:solidFill>
                  <a:srgbClr val="C77D6E"/>
                </a:solidFill>
                <a:latin typeface="Calibri"/>
              </a:defRPr>
            </a:pPr>
            <a:r>
              <a:t>Why These Indexes?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C99E58"/>
                </a:solidFill>
                <a:latin typeface="Calibri"/>
              </a:defRPr>
            </a:pPr>
            <a:r>
              <a:t>🔍  JOIN Acceleration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t>FK columns (customer_id, branch_id, application_id) are indexed for fast multi-table JOINs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C99E58"/>
                </a:solidFill>
                <a:latin typeface="Calibri"/>
              </a:defRPr>
            </a:pPr>
            <a:r>
              <a:t>📊  Filter / WHERE Optimization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t>Columns used in WHERE clauses (status, credit_score, payment_status) get B-Tree indexes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C99E58"/>
                </a:solidFill>
                <a:latin typeface="Calibri"/>
              </a:defRPr>
            </a:pPr>
            <a:r>
              <a:t>📅  Time-Series Queries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t>Date columns (application_date, due_date, transaction_date) enable fast range scans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C99E58"/>
                </a:solidFill>
                <a:latin typeface="Calibri"/>
              </a:defRPr>
            </a:pPr>
            <a:r>
              <a:t>📈  GROUP BY Speed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defRPr sz="1100" b="0">
                <a:solidFill>
                  <a:srgbClr val="555555"/>
                </a:solidFill>
                <a:latin typeface="Calibri"/>
              </a:defRPr>
            </a:pPr>
            <a:r>
              <a:t>Segment and category indexes speed up aggregation queries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529E97"/>
                </a:solidFill>
                <a:latin typeface="Calibri"/>
              </a:defRPr>
            </a:pPr>
            <a:r>
              <a:t>Index Summary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•  22 total indexes across 5 tables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•  Covers all FK columns for JOINs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•  Targets high-cardinality columns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2C2C2C"/>
                </a:solidFill>
                <a:latin typeface="Calibri"/>
              </a:defRPr>
            </a:pPr>
            <a:r>
              <a:t>•  Optimizes the 25+ analytical queries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IndoSynth Gramin Bank  •  SQL Phase  •  Major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defRPr sz="6000" b="0">
                <a:solidFill>
                  <a:srgbClr val="2C2C2C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C2C2C"/>
                </a:solidFill>
                <a:latin typeface="Calibri"/>
              </a:defRPr>
            </a:pPr>
            <a:r>
              <a:t>Analytical SQL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C77D6E"/>
                </a:solidFill>
                <a:latin typeface="Calibri"/>
              </a:defRPr>
            </a:pPr>
            <a:r>
              <a:t>10 High-Impact Queries Delivering Key Business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297680"/>
            <a:ext cx="3931920" cy="38100"/>
          </a:xfrm>
          <a:prstGeom prst="rect">
            <a:avLst/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71600" y="4754880"/>
            <a:ext cx="3017520" cy="137160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9050">
            <a:solidFill>
              <a:srgbClr val="5E9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4892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E9E65"/>
                </a:solidFill>
                <a:latin typeface="Calibri"/>
              </a:defRPr>
            </a:pPr>
            <a:r>
              <a:t>🟢  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53492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Foundation queries using</a:t>
            </a:r>
            <a:br/>
            <a:r>
              <a:t>GROUP BY, ORDER BY, JOINs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4754880"/>
            <a:ext cx="3017520" cy="137160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9050">
            <a:solidFill>
              <a:srgbClr val="C9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4892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99E58"/>
                </a:solidFill>
                <a:latin typeface="Calibri"/>
              </a:defRPr>
            </a:pPr>
            <a:r>
              <a:t>🟡  INTERMEDIATE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53492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Window functions, CASE,</a:t>
            </a:r>
            <a:br/>
            <a:r>
              <a:t>multi-table aggregations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754880"/>
            <a:ext cx="3017520" cy="137160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9050">
            <a:solidFill>
              <a:srgbClr val="C4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0" y="4892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E5E"/>
                </a:solidFill>
                <a:latin typeface="Calibri"/>
              </a:defRPr>
            </a:pPr>
            <a:r>
              <a:t>🔴  ADVANCED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53492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Subqueries, CTEs, RFM,</a:t>
            </a:r>
            <a:br/>
            <a:r>
              <a:t>NPA &amp; Cohort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IndoSynth Gramin Bank  •  SQL Phase  •  Major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5E9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BASIC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517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C2C2C"/>
                </a:solidFill>
                <a:latin typeface="Calibri"/>
              </a:defRPr>
            </a:pPr>
            <a:r>
              <a:t>Total Customers by Zone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200400" cy="38100"/>
          </a:xfrm>
          <a:prstGeom prst="rect">
            <a:avLst/>
          </a:prstGeom>
          <a:solidFill>
            <a:srgbClr val="5E9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9E97"/>
                </a:solidFill>
                <a:latin typeface="Calibri"/>
              </a:defRPr>
            </a:pPr>
            <a:r>
              <a:t>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4754880" cy="3840480"/>
          </a:xfrm>
          <a:prstGeom prst="roundRect">
            <a:avLst>
              <a:gd name="adj" fmla="val 5000"/>
            </a:avLst>
          </a:prstGeom>
          <a:solidFill>
            <a:srgbClr val="E8E5DE"/>
          </a:solidFill>
          <a:ln w="12700">
            <a:solidFill>
              <a:srgbClr val="529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11679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SELECT zone,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   COUNT(*) AS total_customers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FROM customers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GROUP BY zone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ORDER BY total_customers DESC;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52160"/>
            <a:ext cx="4754880" cy="45720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5E9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897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9E65"/>
                </a:solidFill>
                <a:latin typeface="Calibri"/>
              </a:defRPr>
            </a:pPr>
            <a:r>
              <a:t>Concepts:  GROUP BY  •  COUNT(*)  •  ORDER BY DESC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9050">
            <a:solidFill>
              <a:srgbClr val="5E9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E9E65"/>
                </a:solidFill>
                <a:latin typeface="Calibri"/>
              </a:defRPr>
            </a:pPr>
            <a:r>
              <a:t>💡  Geographic Customer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Reveals which zones (North, South, East, West) have the highest customer concentration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Helps the bank allocate marketing budgets proportionally across regions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Identifies underserved zones where expansion opportunities exist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Supports RBI's priority sector lending compliance by geography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5852160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5E9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58795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Impact: Regional Strategy &amp; Resource Allocation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IndoSynth Gramin Bank  •  SQL Phase  •  Major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5E9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BASIC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517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C2C2C"/>
                </a:solidFill>
                <a:latin typeface="Calibri"/>
              </a:defRPr>
            </a:pPr>
            <a:r>
              <a:t>Loan Application Status Breakdown (%)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200400" cy="38100"/>
          </a:xfrm>
          <a:prstGeom prst="rect">
            <a:avLst/>
          </a:prstGeom>
          <a:solidFill>
            <a:srgbClr val="5E9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9E97"/>
                </a:solidFill>
                <a:latin typeface="Calibri"/>
              </a:defRPr>
            </a:pPr>
            <a:r>
              <a:t>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4754880" cy="3840480"/>
          </a:xfrm>
          <a:prstGeom prst="roundRect">
            <a:avLst>
              <a:gd name="adj" fmla="val 5000"/>
            </a:avLst>
          </a:prstGeom>
          <a:solidFill>
            <a:srgbClr val="E8E5DE"/>
          </a:solidFill>
          <a:ln w="12700">
            <a:solidFill>
              <a:srgbClr val="529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11679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SELECT status,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   COUNT(*) AS count,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   ROUND(COUNT(*) * 100.0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     / SUM(COUNT(*)) OVER(), 2)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     AS pct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FROM loan_applications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GROUP BY status;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52160"/>
            <a:ext cx="4754880" cy="45720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5E9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897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9E65"/>
                </a:solidFill>
                <a:latin typeface="Calibri"/>
              </a:defRPr>
            </a:pPr>
            <a:r>
              <a:t>Concepts:  SUM() OVER()  •  Window Function  •  ROUND()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9050">
            <a:solidFill>
              <a:srgbClr val="5E9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E9E65"/>
                </a:solidFill>
                <a:latin typeface="Calibri"/>
              </a:defRPr>
            </a:pPr>
            <a:r>
              <a:t>💡  Loan Pipeline Health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Shows the exact approval vs rejection vs pending ratio as percentages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A high rejection rate signals overly strict policies or poor customer targeting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Uses window function SUM() OVER() for percentage calculation without subquery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Critical KPI for bank management to track loan funnel efficiency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5852160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5E9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58795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Impact: Loan Funnel Optimization &amp; Policy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IndoSynth Gramin Bank  •  SQL Phase  •  Major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5E9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BASIC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517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Q7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C2C2C"/>
                </a:solidFill>
                <a:latin typeface="Calibri"/>
              </a:defRPr>
            </a:pPr>
            <a:r>
              <a:t>Transaction Mode Popularity (UPI vs Traditional)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200400" cy="38100"/>
          </a:xfrm>
          <a:prstGeom prst="rect">
            <a:avLst/>
          </a:prstGeom>
          <a:solidFill>
            <a:srgbClr val="5E9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9E97"/>
                </a:solidFill>
                <a:latin typeface="Calibri"/>
              </a:defRPr>
            </a:pPr>
            <a:r>
              <a:t>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4754880" cy="3840480"/>
          </a:xfrm>
          <a:prstGeom prst="roundRect">
            <a:avLst>
              <a:gd name="adj" fmla="val 5000"/>
            </a:avLst>
          </a:prstGeom>
          <a:solidFill>
            <a:srgbClr val="E8E5DE"/>
          </a:solidFill>
          <a:ln w="12700">
            <a:solidFill>
              <a:srgbClr val="529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11679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SELECT transaction_mode,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   COUNT(*) AS txn_count,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   ROUND(SUM(amount), 2)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     AS total_amount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FROM transactions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WHERE status = 'Success'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GROUP BY transaction_mode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ORDER BY txn_count DESC;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52160"/>
            <a:ext cx="4754880" cy="45720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5E9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897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9E65"/>
                </a:solidFill>
                <a:latin typeface="Calibri"/>
              </a:defRPr>
            </a:pPr>
            <a:r>
              <a:t>Concepts:  WHERE filter  •  SUM()  •  GROUP BY  •  ORDER BY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9050">
            <a:solidFill>
              <a:srgbClr val="5E9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E9E65"/>
                </a:solidFill>
                <a:latin typeface="Calibri"/>
              </a:defRPr>
            </a:pPr>
            <a:r>
              <a:t>💡  Digital Banking Adoption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Ranks UPI, NEFT, Cash, ATM, IMPS by usage count and total value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Reveals the shift from traditional (Cash, Cheque) to digital (UPI, NEFT)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Helps the bank decide where to invest — more ATMs or better app?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Filters only successful transactions for accurate volume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5852160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5E9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58795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Impact: Digital Transformation &amp; Channel Investment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IndoSynth Gramin Bank  •  SQL Phase  •  Major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INTERMEDIATE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517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Q9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C2C2C"/>
                </a:solidFill>
                <a:latin typeface="Calibri"/>
              </a:defRPr>
            </a:pPr>
            <a:r>
              <a:t>Loan Approval Rate by Loan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200400" cy="38100"/>
          </a:xfrm>
          <a:prstGeom prst="rect">
            <a:avLst/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9E97"/>
                </a:solidFill>
                <a:latin typeface="Calibri"/>
              </a:defRPr>
            </a:pPr>
            <a:r>
              <a:t>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4754880" cy="3840480"/>
          </a:xfrm>
          <a:prstGeom prst="roundRect">
            <a:avLst>
              <a:gd name="adj" fmla="val 5000"/>
            </a:avLst>
          </a:prstGeom>
          <a:solidFill>
            <a:srgbClr val="E8E5DE"/>
          </a:solidFill>
          <a:ln w="12700">
            <a:solidFill>
              <a:srgbClr val="529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11679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SELECT loan_type_name,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COUNT(*) AS total,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SUM(CASE WHEN status IN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('Disbursed','Approved','Closed')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THEN 1 ELSE 0 END) AS approved,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ROUND(SUM(CASE WHEN status IN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('Disbursed','Approved','Closed')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THEN 1 ELSE 0 END)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* 100.0 / COUNT(*), 2)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AS approval_rate_pct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FROM loan_applications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GROUP BY loan_type_name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ORDER BY approval_rate_pct DESC;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52160"/>
            <a:ext cx="4754880" cy="45720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C9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897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9E58"/>
                </a:solidFill>
                <a:latin typeface="Calibri"/>
              </a:defRPr>
            </a:pPr>
            <a:r>
              <a:t>Concepts:  CASE WHEN  •  Conditional Aggregation  •  IN()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9050">
            <a:solidFill>
              <a:srgbClr val="C9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99E58"/>
                </a:solidFill>
                <a:latin typeface="Calibri"/>
              </a:defRPr>
            </a:pPr>
            <a:r>
              <a:t>💡  Product-Level Approval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Gold Loans &amp; Agri Loans likely have highest approval (collateral-backed / govt schemes)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Personal Loans may have lowest approval due to unsecured nature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Uses CASE-based conditional aggregation — a powerful intermediate SQL pattern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Helps management fine-tune underwriting policies per product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5852160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58795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Impact: Underwriting Policy Optimization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IndoSynth Gramin Bank  •  SQL Phase  •  Major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INTERMEDIATE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517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Q12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C2C2C"/>
                </a:solidFill>
                <a:latin typeface="Calibri"/>
              </a:defRPr>
            </a:pPr>
            <a:r>
              <a:t>Payment Default Rate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200400" cy="38100"/>
          </a:xfrm>
          <a:prstGeom prst="rect">
            <a:avLst/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9E97"/>
                </a:solidFill>
                <a:latin typeface="Calibri"/>
              </a:defRPr>
            </a:pPr>
            <a:r>
              <a:t>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4754880" cy="3840480"/>
          </a:xfrm>
          <a:prstGeom prst="roundRect">
            <a:avLst>
              <a:gd name="adj" fmla="val 5000"/>
            </a:avLst>
          </a:prstGeom>
          <a:solidFill>
            <a:srgbClr val="E8E5DE"/>
          </a:solidFill>
          <a:ln w="12700">
            <a:solidFill>
              <a:srgbClr val="529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11679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SELECT payment_status,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   COUNT(*) AS count,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   ROUND(COUNT(*) * 100.0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     / SUM(COUNT(*)) OVER(), 2)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     AS pct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FROM loan_payments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GROUP BY payment_status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ORDER BY count DESC;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52160"/>
            <a:ext cx="4754880" cy="45720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C9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897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9E58"/>
                </a:solidFill>
                <a:latin typeface="Calibri"/>
              </a:defRPr>
            </a:pPr>
            <a:r>
              <a:t>Concepts:  Window Function  •  Risk Metric  •  900K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9050">
            <a:solidFill>
              <a:srgbClr val="C9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99E58"/>
                </a:solidFill>
                <a:latin typeface="Calibri"/>
              </a:defRPr>
            </a:pPr>
            <a:r>
              <a:t>💡  Repayment Risk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Shows Paid vs Late vs Missed payment distribution across 900K records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High 'Missed' percentage directly signals rising NPA risk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The bank can trigger early warning systems based on this metric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Window function calculates % without a separate total subquery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5852160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58795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Impact: Early Warning System for Defaults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IndoSynth Gramin Bank  •  SQL Phase  •  Major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INTERMEDIATE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517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Q17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C2C2C"/>
                </a:solidFill>
                <a:latin typeface="Calibri"/>
              </a:defRPr>
            </a:pPr>
            <a:r>
              <a:t>Year-over-Year Loan Application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200400" cy="38100"/>
          </a:xfrm>
          <a:prstGeom prst="rect">
            <a:avLst/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9E97"/>
                </a:solidFill>
                <a:latin typeface="Calibri"/>
              </a:defRPr>
            </a:pPr>
            <a:r>
              <a:t>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4754880" cy="3840480"/>
          </a:xfrm>
          <a:prstGeom prst="roundRect">
            <a:avLst>
              <a:gd name="adj" fmla="val 5000"/>
            </a:avLst>
          </a:prstGeom>
          <a:solidFill>
            <a:srgbClr val="E8E5DE"/>
          </a:solidFill>
          <a:ln w="12700">
            <a:solidFill>
              <a:srgbClr val="529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11679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SELECT YEAR(application_date) AS yr,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COUNT(*) AS applications,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LAG(COUNT(*)) OVER (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ORDER BY YEAR(application_date))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AS prev_year,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ROUND((COUNT(*) - LAG(COUNT(*))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OVER (ORDER BY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  YEAR(application_date)))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* 100.0 / LAG(COUNT(*))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OVER (ORDER BY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  YEAR(application_date)), 2)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AS yoy_growth_pct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FROM loan_applications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GROUP BY yr ORDER BY yr;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52160"/>
            <a:ext cx="4754880" cy="45720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C9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897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9E58"/>
                </a:solidFill>
                <a:latin typeface="Calibri"/>
              </a:defRPr>
            </a:pPr>
            <a:r>
              <a:t>Concepts:  LAG()  •  Window Function  •  YoY Growth  •  YEAR()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9050">
            <a:solidFill>
              <a:srgbClr val="C9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99E58"/>
                </a:solidFill>
                <a:latin typeface="Calibri"/>
              </a:defRPr>
            </a:pPr>
            <a:r>
              <a:t>💡  Business Growth Trajectory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Uses LAG() window function to compare each year with the previous year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Calculates exact YoY growth percentage for strategic planning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Declining growth signals competitive pressure; spikes indicate expansion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Critical metric for board-level reporting and investor presentations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5852160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58795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Impact: Strategic Planning &amp; Board Reporting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IndoSynth Gramin Bank  •  SQL Phase  •  Major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C4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517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Q18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C2C2C"/>
                </a:solidFill>
                <a:latin typeface="Calibri"/>
              </a:defRPr>
            </a:pPr>
            <a:r>
              <a:t>Credit Score Bands vs Loan Default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200400" cy="38100"/>
          </a:xfrm>
          <a:prstGeom prst="rect">
            <a:avLst/>
          </a:prstGeom>
          <a:solidFill>
            <a:srgbClr val="C4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9E97"/>
                </a:solidFill>
                <a:latin typeface="Calibri"/>
              </a:defRPr>
            </a:pPr>
            <a:r>
              <a:t>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4754880" cy="3840480"/>
          </a:xfrm>
          <a:prstGeom prst="roundRect">
            <a:avLst>
              <a:gd name="adj" fmla="val 5000"/>
            </a:avLst>
          </a:prstGeom>
          <a:solidFill>
            <a:srgbClr val="E8E5DE"/>
          </a:solidFill>
          <a:ln w="12700">
            <a:solidFill>
              <a:srgbClr val="529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11679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SELECT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CASE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WHEN ch.credit_score &gt;= 800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  THEN '800+ (Excellent)'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WHEN ch.credit_score &gt;= 700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  THEN '700-799 (Good)'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WHEN ch.credit_score &gt;= 600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  THEN '600-699 (Fair)'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ELSE 'Below 600 (Poor)'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END AS credit_band,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COUNT(DISTINCT la.application_id)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AS total_loans,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ROUND(... * 100.0 / ..., 2)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AS default_rate_pct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FROM loan_applications la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JOIN credit_history ch ON ...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JOIN loan_payments lp ON ...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GROUP BY credit_band;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52160"/>
            <a:ext cx="4754880" cy="45720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C4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897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45E5E"/>
                </a:solidFill>
                <a:latin typeface="Calibri"/>
              </a:defRPr>
            </a:pPr>
            <a:r>
              <a:t>Concepts:  CASE bands  •  3-table JOIN  •  COUNT(DISTINCT)  •  Risk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9050">
            <a:solidFill>
              <a:srgbClr val="C4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5E5E"/>
                </a:solidFill>
                <a:latin typeface="Calibri"/>
              </a:defRPr>
            </a:pPr>
            <a:r>
              <a:t>💡  Credit Risk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Maps credit score bands (Excellent/Good/Fair/Poor) to actual default rates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Validates whether the bank's scoring model accurately predicts risk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If 'Excellent' customers also default, the scoring criteria need revision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Uses CASE + multi-table JOINs + DISTINCT counting — advanced pattern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5852160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C4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58795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Impact: Credit Scoring Model 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IndoSynth Gramin Bank  •  SQL Phase  •  Major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C4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517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Q20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C2C2C"/>
                </a:solidFill>
                <a:latin typeface="Calibri"/>
              </a:defRPr>
            </a:pPr>
            <a:r>
              <a:t>Customer Lifetime Value (CLV)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200400" cy="38100"/>
          </a:xfrm>
          <a:prstGeom prst="rect">
            <a:avLst/>
          </a:prstGeom>
          <a:solidFill>
            <a:srgbClr val="C4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9E97"/>
                </a:solidFill>
                <a:latin typeface="Calibri"/>
              </a:defRPr>
            </a:pPr>
            <a:r>
              <a:t>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4754880" cy="3840480"/>
          </a:xfrm>
          <a:prstGeom prst="roundRect">
            <a:avLst>
              <a:gd name="adj" fmla="val 5000"/>
            </a:avLst>
          </a:prstGeom>
          <a:solidFill>
            <a:srgbClr val="E8E5DE"/>
          </a:solidFill>
          <a:ln w="12700">
            <a:solidFill>
              <a:srgbClr val="529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11679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SELECT c.customer_id, c.full_name,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c.customer_segment,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COALESCE(t.total_credits, 0)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AS total_deposits,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COALESCE(l.total_interest, 0)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AS interest_paid_to_bank,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COALESCE(t.total_credits, 0)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+ COALESCE(l.total_interest, 0)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AS lifetime_value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FROM customers c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LEFT JOIN (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SELECT customer_id, SUM(amount) ...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FROM transactions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WHERE type='Credit' GROUP BY ...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) t ON c.customer_id = t.customer_id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LEFT JOIN (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SELECT customer_id, SUM(interest)..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FROM loan_payments GROUP BY ...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) l ON c.customer_id = l.customer_id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ORDER BY lifetime_value DESC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LIMIT 20;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52160"/>
            <a:ext cx="4754880" cy="45720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C4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897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45E5E"/>
                </a:solidFill>
                <a:latin typeface="Calibri"/>
              </a:defRPr>
            </a:pPr>
            <a:r>
              <a:t>Concepts:  Subqueries  •  LEFT JOIN  •  COALESCE  •  CLV Metric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9050">
            <a:solidFill>
              <a:srgbClr val="C4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5E5E"/>
                </a:solidFill>
                <a:latin typeface="Calibri"/>
              </a:defRPr>
            </a:pPr>
            <a:r>
              <a:t>💡  Most Valuable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Combines deposits (credit transactions) + loan interest into a single CLV score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Uses LEFT JOINs with subqueries to handle customers without loans or transactions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COALESCE ensures NULLs become 0 for accurate summation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Identifies top 20 VIP customers for priority service &amp; retention offers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5852160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C4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58795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Impact: VIP Customer Identification &amp; Retention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IndoSynth Gramin Bank  •  SQL Phase  •  Major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C4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517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Q23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C2C2C"/>
                </a:solidFill>
                <a:latin typeface="Calibri"/>
              </a:defRPr>
            </a:pPr>
            <a:r>
              <a:t>NPA (Non-Performing Asset) Identification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200400" cy="38100"/>
          </a:xfrm>
          <a:prstGeom prst="rect">
            <a:avLst/>
          </a:prstGeom>
          <a:solidFill>
            <a:srgbClr val="C4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9E97"/>
                </a:solidFill>
                <a:latin typeface="Calibri"/>
              </a:defRPr>
            </a:pPr>
            <a:r>
              <a:t>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4754880" cy="3840480"/>
          </a:xfrm>
          <a:prstGeom prst="roundRect">
            <a:avLst>
              <a:gd name="adj" fmla="val 5000"/>
            </a:avLst>
          </a:prstGeom>
          <a:solidFill>
            <a:srgbClr val="E8E5DE"/>
          </a:solidFill>
          <a:ln w="12700">
            <a:solidFill>
              <a:srgbClr val="529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11679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SELECT la.application_id,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c.full_name, la.loan_type_name,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la.loan_amount_approved,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COUNT(CASE WHEN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lp.payment_status = 'Missed'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THEN 1 END) AS missed_payments,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MAX(lp.outstanding_balance)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AS current_outstanding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FROM loan_applications la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JOIN loan_payments lp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ON la.application_id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 = lp.application_id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JOIN customers c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ON la.customer_id = c.customer_id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GROUP BY la.application_id, ...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HAVING missed_payments &gt;= 3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ORDER BY current_outstanding DESC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LIMIT 20;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52160"/>
            <a:ext cx="4754880" cy="45720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C4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897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45E5E"/>
                </a:solidFill>
                <a:latin typeface="Calibri"/>
              </a:defRPr>
            </a:pPr>
            <a:r>
              <a:t>Concepts:  HAVING  •  3-table JOIN  •  NPA Detection  •  RBI Compliance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9050">
            <a:solidFill>
              <a:srgbClr val="C4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5E5E"/>
                </a:solidFill>
                <a:latin typeface="Calibri"/>
              </a:defRPr>
            </a:pPr>
            <a:r>
              <a:t>💡  Regulatory Risk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Flags loans with 3+ missed payments as potential NPAs — an RBI requirement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Shows outstanding balance at risk for provisioning calculations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Uses HAVING for post-aggregation filtering (can't use WHERE for aggregates)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Early NPA detection allows restructuring before loans become fully non-performing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5852160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C4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58795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Impact: RBI Compliance &amp; Loss Prevention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IndoSynth Gramin Bank  •  SQL Phase  •  Major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C4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C9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51760" y="384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Q25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C2C2C"/>
                </a:solidFill>
                <a:latin typeface="Calibri"/>
              </a:defRPr>
            </a:pPr>
            <a:r>
              <a:t>Cohort Analysis — Loan Applications by Account Opening 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200400" cy="38100"/>
          </a:xfrm>
          <a:prstGeom prst="rect">
            <a:avLst/>
          </a:prstGeom>
          <a:solidFill>
            <a:srgbClr val="C4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9E97"/>
                </a:solidFill>
                <a:latin typeface="Calibri"/>
              </a:defRPr>
            </a:pPr>
            <a:r>
              <a:t>SQL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4754880" cy="3840480"/>
          </a:xfrm>
          <a:prstGeom prst="roundRect">
            <a:avLst>
              <a:gd name="adj" fmla="val 5000"/>
            </a:avLst>
          </a:prstGeom>
          <a:solidFill>
            <a:srgbClr val="E8E5DE"/>
          </a:solidFill>
          <a:ln w="12700">
            <a:solidFill>
              <a:srgbClr val="529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11679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SELECT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YEAR(c.account_open_date)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AS cohort_year,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YEAR(la.application_date)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AS app_year,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COUNT(*) AS applications,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SUM(CASE WHEN la.status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= 'Disbursed' THEN 1 ELSE 0 END)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  AS disbursed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FROM loan_applications la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JOIN customers c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  ON la.customer_id = c.customer_id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GROUP BY cohort_year, app_year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>
                <a:solidFill>
                  <a:srgbClr val="333340"/>
                </a:solidFill>
                <a:latin typeface="Consolas"/>
              </a:defRPr>
            </a:pPr>
            <a:r>
              <a:t>ORDER BY cohort_year, app_year;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52160"/>
            <a:ext cx="4754880" cy="45720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2700">
            <a:solidFill>
              <a:srgbClr val="C4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897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45E5E"/>
                </a:solidFill>
                <a:latin typeface="Calibri"/>
              </a:defRPr>
            </a:pPr>
            <a:r>
              <a:t>Concepts:  Cohort Analysis  •  YEAR()  •  Multi-GROUP BY  •  Lifecycle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9050">
            <a:solidFill>
              <a:srgbClr val="C4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5E5E"/>
                </a:solidFill>
                <a:latin typeface="Calibri"/>
              </a:defRPr>
            </a:pPr>
            <a:r>
              <a:t>💡  Customer Lifecycle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Groups customers into cohorts by account opening year, tracks loan behavior over time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Reveals whether newer customers apply for loans sooner than older cohorts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Helps predict future loan demand from recent account openers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C2C2C"/>
                </a:solidFill>
                <a:latin typeface="Calibri"/>
              </a:defRPr>
            </a:pPr>
            <a:r>
              <a:t>▸  Classic cohort analysis pattern used in retention strategy &amp; forecasting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5852160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C4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58795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Impact: Retention Strategy &amp; Demand Forecasting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IndoSynth Gramin Bank  •  SQL Phase  •  Major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C2C2C"/>
                </a:solidFill>
                <a:latin typeface="Calibri"/>
              </a:defRPr>
            </a:pPr>
            <a:r>
              <a:t>Key Takeaways &amp;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0" cy="38100"/>
          </a:xfrm>
          <a:prstGeom prst="rect">
            <a:avLst/>
          </a:prstGeom>
          <a:solidFill>
            <a:srgbClr val="C7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123444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9050">
            <a:solidFill>
              <a:srgbClr val="C77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77D6E"/>
                </a:solidFill>
                <a:latin typeface="Calibri"/>
              </a:defRPr>
            </a:pPr>
            <a:r>
              <a:t>🗃️  9-Table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Designed a fully normalized 3NF</a:t>
            </a:r>
            <a:br/>
            <a:r>
              <a:t>schema with 12 FK constraints</a:t>
            </a:r>
            <a:br/>
            <a:r>
              <a:t>ensuring data integrity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303520" cy="123444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9050">
            <a:solidFill>
              <a:srgbClr val="529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29E97"/>
                </a:solidFill>
                <a:latin typeface="Calibri"/>
              </a:defRPr>
            </a:pPr>
            <a:r>
              <a:t>📥  ~3M Records Loaded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Bulk ingestion via LOAD DATA</a:t>
            </a:r>
            <a:br/>
            <a:r>
              <a:t>LOCAL INFILE with NULLIF()</a:t>
            </a:r>
            <a:br/>
            <a:r>
              <a:t>for clean NULL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80360"/>
            <a:ext cx="5303520" cy="123444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9050">
            <a:solidFill>
              <a:srgbClr val="C9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99E58"/>
                </a:solidFill>
                <a:latin typeface="Calibri"/>
              </a:defRPr>
            </a:pPr>
            <a:r>
              <a:t>⚡  22 Indexes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Strategic B-Tree indexes on</a:t>
            </a:r>
            <a:br/>
            <a:r>
              <a:t>FK columns, dates, and</a:t>
            </a:r>
            <a:br/>
            <a:r>
              <a:t>high-cardinality filters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880360"/>
            <a:ext cx="5303520" cy="123444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9050">
            <a:solidFill>
              <a:srgbClr val="5E8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2971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E89B4"/>
                </a:solidFill>
                <a:latin typeface="Calibri"/>
              </a:defRPr>
            </a:pPr>
            <a:r>
              <a:t>📊  25+ Queries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3756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Basic to Advanced SQL covering</a:t>
            </a:r>
            <a:br/>
            <a:r>
              <a:t>JOINs, window functions, CASE,</a:t>
            </a:r>
            <a:br/>
            <a:r>
              <a:t>subqueries, &amp; cohort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97680"/>
            <a:ext cx="5303520" cy="123444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9050">
            <a:solidFill>
              <a:srgbClr val="C4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E5E"/>
                </a:solidFill>
                <a:latin typeface="Calibri"/>
              </a:defRPr>
            </a:pPr>
            <a:r>
              <a:t>🔍  Risk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NPA identification, credit score</a:t>
            </a:r>
            <a:br/>
            <a:r>
              <a:t>validation, default rate tracking</a:t>
            </a:r>
            <a:br/>
            <a:r>
              <a:t>for RBI compliance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297680"/>
            <a:ext cx="5303520" cy="1234440"/>
          </a:xfrm>
          <a:prstGeom prst="roundRect">
            <a:avLst>
              <a:gd name="adj" fmla="val 5000"/>
            </a:avLst>
          </a:prstGeom>
          <a:solidFill>
            <a:srgbClr val="EEECE6"/>
          </a:solidFill>
          <a:ln w="19050">
            <a:solidFill>
              <a:srgbClr val="8B6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4389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6BAF"/>
                </a:solidFill>
                <a:latin typeface="Calibri"/>
              </a:defRPr>
            </a:pPr>
            <a:r>
              <a:t>💎  CLV &amp; RFM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75488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Customer Lifetime Value and</a:t>
            </a:r>
            <a:br/>
            <a:r>
              <a:t>RFM segmentation for targeted</a:t>
            </a:r>
            <a:br/>
            <a:r>
              <a:t>marketing &amp; retention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5486400"/>
            <a:ext cx="7589520" cy="640080"/>
          </a:xfrm>
          <a:prstGeom prst="roundRect">
            <a:avLst>
              <a:gd name="adj" fmla="val 5000"/>
            </a:avLst>
          </a:prstGeom>
          <a:solidFill>
            <a:srgbClr val="C7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86000" y="55321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Thank You  •  IndoSynth Gramin Bank  •  SQL Phase Complete 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IndoSynth Gramin Bank  •  SQL Phase  •  Major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3634</Words>
  <Application>Microsoft Office PowerPoint</Application>
  <PresentationFormat>Widescreen</PresentationFormat>
  <Paragraphs>565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Prathamesh Talele</cp:lastModifiedBy>
  <cp:revision>1</cp:revision>
  <dcterms:created xsi:type="dcterms:W3CDTF">2013-01-27T09:14:16Z</dcterms:created>
  <dcterms:modified xsi:type="dcterms:W3CDTF">2026-07-26T03:57:34Z</dcterms:modified>
  <cp:category/>
</cp:coreProperties>
</file>